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Poppins Medium" charset="1" panose="000006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 Semi-Bold" charset="1" panose="00000700000000000000"/>
      <p:regular r:id="rId19"/>
    </p:embeddedFont>
    <p:embeddedFont>
      <p:font typeface="Public Sans Bold" charset="1" panose="00000000000000000000"/>
      <p:regular r:id="rId20"/>
    </p:embeddedFont>
    <p:embeddedFont>
      <p:font typeface="Public Sans" charset="1" panose="00000000000000000000"/>
      <p:regular r:id="rId21"/>
    </p:embeddedFont>
    <p:embeddedFont>
      <p:font typeface="Poppins Light" charset="1" panose="000004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160513" y="7770026"/>
            <a:ext cx="1966975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0412" y="354129"/>
            <a:ext cx="1072485" cy="1072485"/>
          </a:xfrm>
          <a:custGeom>
            <a:avLst/>
            <a:gdLst/>
            <a:ahLst/>
            <a:cxnLst/>
            <a:rect r="r" b="b" t="t" l="l"/>
            <a:pathLst>
              <a:path h="1072485" w="1072485">
                <a:moveTo>
                  <a:pt x="0" y="0"/>
                </a:moveTo>
                <a:lnTo>
                  <a:pt x="1072486" y="0"/>
                </a:lnTo>
                <a:lnTo>
                  <a:pt x="1072486" y="1072486"/>
                </a:lnTo>
                <a:lnTo>
                  <a:pt x="0" y="1072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57" t="-8596" r="-12232" b="-1289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81654" y="280705"/>
            <a:ext cx="2639591" cy="1174618"/>
          </a:xfrm>
          <a:custGeom>
            <a:avLst/>
            <a:gdLst/>
            <a:ahLst/>
            <a:cxnLst/>
            <a:rect r="r" b="b" t="t" l="l"/>
            <a:pathLst>
              <a:path h="1174618" w="2639591">
                <a:moveTo>
                  <a:pt x="0" y="0"/>
                </a:moveTo>
                <a:lnTo>
                  <a:pt x="2639590" y="0"/>
                </a:lnTo>
                <a:lnTo>
                  <a:pt x="2639590" y="1174618"/>
                </a:lnTo>
                <a:lnTo>
                  <a:pt x="0" y="1174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22966" y="247476"/>
            <a:ext cx="3168702" cy="1285792"/>
          </a:xfrm>
          <a:custGeom>
            <a:avLst/>
            <a:gdLst/>
            <a:ahLst/>
            <a:cxnLst/>
            <a:rect r="r" b="b" t="t" l="l"/>
            <a:pathLst>
              <a:path h="1285792" w="3168702">
                <a:moveTo>
                  <a:pt x="0" y="0"/>
                </a:moveTo>
                <a:lnTo>
                  <a:pt x="3168702" y="0"/>
                </a:lnTo>
                <a:lnTo>
                  <a:pt x="3168702" y="1285792"/>
                </a:lnTo>
                <a:lnTo>
                  <a:pt x="0" y="128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7924" y="2834787"/>
            <a:ext cx="14332152" cy="260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</a:t>
            </a: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oring the Effect of Personalized Virtual Reality</a:t>
            </a:r>
          </a:p>
          <a:p>
            <a:pPr algn="ctr">
              <a:lnSpc>
                <a:spcPts val="704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Serious Game for Stroke Rehabilitation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6347" y="6496196"/>
            <a:ext cx="8930907" cy="40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MAPDE 2025/2026 - Investigation Plan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48198" y="7774049"/>
            <a:ext cx="5391604" cy="286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3"/>
              </a:lnSpc>
            </a:pPr>
          </a:p>
          <a:p>
            <a:pPr algn="ctr">
              <a:lnSpc>
                <a:spcPts val="3403"/>
              </a:lnSpc>
            </a:pPr>
            <a:r>
              <a:rPr lang="en-US" sz="2001" spc="-4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David Palricas - 108780</a:t>
            </a:r>
          </a:p>
          <a:p>
            <a:pPr algn="ctr">
              <a:lnSpc>
                <a:spcPts val="3403"/>
              </a:lnSpc>
            </a:pPr>
          </a:p>
          <a:p>
            <a:pPr algn="ctr">
              <a:lnSpc>
                <a:spcPts val="3403"/>
              </a:lnSpc>
            </a:pPr>
            <a:r>
              <a:rPr lang="en-US" sz="2001" spc="-4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Mentors:</a:t>
            </a:r>
          </a:p>
          <a:p>
            <a:pPr algn="ctr">
              <a:lnSpc>
                <a:spcPts val="3403"/>
              </a:lnSpc>
            </a:pPr>
            <a:r>
              <a:rPr lang="en-US" sz="2001" spc="-4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Professor Bernardo Marques</a:t>
            </a:r>
          </a:p>
          <a:p>
            <a:pPr algn="ctr">
              <a:lnSpc>
                <a:spcPts val="3403"/>
              </a:lnSpc>
            </a:pPr>
            <a:r>
              <a:rPr lang="en-US" sz="2001" spc="-4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Professor Beatriz Santos</a:t>
            </a:r>
          </a:p>
          <a:p>
            <a:pPr algn="ctr">
              <a:lnSpc>
                <a:spcPts val="289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6836" y="2247281"/>
            <a:ext cx="5292464" cy="5395230"/>
          </a:xfrm>
          <a:custGeom>
            <a:avLst/>
            <a:gdLst/>
            <a:ahLst/>
            <a:cxnLst/>
            <a:rect r="r" b="b" t="t" l="l"/>
            <a:pathLst>
              <a:path h="5395230" w="5292464">
                <a:moveTo>
                  <a:pt x="0" y="0"/>
                </a:moveTo>
                <a:lnTo>
                  <a:pt x="5292464" y="0"/>
                </a:lnTo>
                <a:lnTo>
                  <a:pt x="5292464" y="5395230"/>
                </a:lnTo>
                <a:lnTo>
                  <a:pt x="0" y="539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7369532"/>
            <a:ext cx="4228214" cy="2917468"/>
          </a:xfrm>
          <a:custGeom>
            <a:avLst/>
            <a:gdLst/>
            <a:ahLst/>
            <a:cxnLst/>
            <a:rect r="r" b="b" t="t" l="l"/>
            <a:pathLst>
              <a:path h="2917468" w="4228214">
                <a:moveTo>
                  <a:pt x="0" y="0"/>
                </a:moveTo>
                <a:lnTo>
                  <a:pt x="4228214" y="0"/>
                </a:lnTo>
                <a:lnTo>
                  <a:pt x="4228214" y="2917468"/>
                </a:lnTo>
                <a:lnTo>
                  <a:pt x="0" y="2917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802092"/>
            <a:ext cx="768748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this Project</a:t>
            </a:r>
            <a:r>
              <a:rPr lang="en-US" sz="4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53351"/>
            <a:ext cx="9652191" cy="186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545" indent="-314772" lvl="1">
              <a:lnSpc>
                <a:spcPts val="4957"/>
              </a:lnSpc>
              <a:buFont typeface="Arial"/>
              <a:buChar char="•"/>
            </a:pPr>
            <a:r>
              <a:rPr lang="en-US" sz="29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does  </a:t>
            </a:r>
            <a:r>
              <a:rPr lang="en-US" b="true" sz="29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stroke </a:t>
            </a:r>
            <a:r>
              <a:rPr lang="en-US" sz="29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impacts our society? </a:t>
            </a:r>
          </a:p>
          <a:p>
            <a:pPr algn="l" marL="629545" indent="-314772" lvl="1">
              <a:lnSpc>
                <a:spcPts val="4957"/>
              </a:lnSpc>
              <a:buFont typeface="Arial"/>
              <a:buChar char="•"/>
            </a:pPr>
            <a:r>
              <a:rPr lang="en-US" sz="29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lang="en-US" b="true" sz="29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VR </a:t>
            </a:r>
            <a:r>
              <a:rPr lang="en-US" sz="29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rehabilitation?</a:t>
            </a:r>
          </a:p>
          <a:p>
            <a:pPr algn="l">
              <a:lnSpc>
                <a:spcPts val="495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93980" y="3289519"/>
            <a:ext cx="2260162" cy="2260162"/>
          </a:xfrm>
          <a:custGeom>
            <a:avLst/>
            <a:gdLst/>
            <a:ahLst/>
            <a:cxnLst/>
            <a:rect r="r" b="b" t="t" l="l"/>
            <a:pathLst>
              <a:path h="2260162" w="2260162">
                <a:moveTo>
                  <a:pt x="0" y="0"/>
                </a:moveTo>
                <a:lnTo>
                  <a:pt x="2260163" y="0"/>
                </a:lnTo>
                <a:lnTo>
                  <a:pt x="2260163" y="2260162"/>
                </a:lnTo>
                <a:lnTo>
                  <a:pt x="0" y="226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12033" y="3390891"/>
            <a:ext cx="2342533" cy="2342533"/>
          </a:xfrm>
          <a:custGeom>
            <a:avLst/>
            <a:gdLst/>
            <a:ahLst/>
            <a:cxnLst/>
            <a:rect r="r" b="b" t="t" l="l"/>
            <a:pathLst>
              <a:path h="2342533" w="2342533">
                <a:moveTo>
                  <a:pt x="0" y="0"/>
                </a:moveTo>
                <a:lnTo>
                  <a:pt x="2342533" y="0"/>
                </a:lnTo>
                <a:lnTo>
                  <a:pt x="2342533" y="2342533"/>
                </a:lnTo>
                <a:lnTo>
                  <a:pt x="0" y="234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3373" y="3390891"/>
            <a:ext cx="2199975" cy="2199975"/>
          </a:xfrm>
          <a:custGeom>
            <a:avLst/>
            <a:gdLst/>
            <a:ahLst/>
            <a:cxnLst/>
            <a:rect r="r" b="b" t="t" l="l"/>
            <a:pathLst>
              <a:path h="2199975" w="2199975">
                <a:moveTo>
                  <a:pt x="0" y="0"/>
                </a:moveTo>
                <a:lnTo>
                  <a:pt x="2199975" y="0"/>
                </a:lnTo>
                <a:lnTo>
                  <a:pt x="2199975" y="2199976"/>
                </a:lnTo>
                <a:lnTo>
                  <a:pt x="0" y="2199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475" y="6235591"/>
            <a:ext cx="425517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Develop a Functional Game Prototype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92370" y="6235591"/>
            <a:ext cx="534198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 algorithms/rules for dynamic difficulty adjustment based on user performance.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5074" y="6235591"/>
            <a:ext cx="381645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Test the protype with users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02454" y="3141978"/>
            <a:ext cx="2474638" cy="2474638"/>
          </a:xfrm>
          <a:custGeom>
            <a:avLst/>
            <a:gdLst/>
            <a:ahLst/>
            <a:cxnLst/>
            <a:rect r="r" b="b" t="t" l="l"/>
            <a:pathLst>
              <a:path h="2474638" w="2474638">
                <a:moveTo>
                  <a:pt x="0" y="0"/>
                </a:moveTo>
                <a:lnTo>
                  <a:pt x="2474637" y="0"/>
                </a:lnTo>
                <a:lnTo>
                  <a:pt x="2474637" y="2474638"/>
                </a:lnTo>
                <a:lnTo>
                  <a:pt x="0" y="247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45170" y="3141978"/>
            <a:ext cx="2532844" cy="2532844"/>
          </a:xfrm>
          <a:custGeom>
            <a:avLst/>
            <a:gdLst/>
            <a:ahLst/>
            <a:cxnLst/>
            <a:rect r="r" b="b" t="t" l="l"/>
            <a:pathLst>
              <a:path h="2532844" w="2532844">
                <a:moveTo>
                  <a:pt x="0" y="0"/>
                </a:moveTo>
                <a:lnTo>
                  <a:pt x="2532845" y="0"/>
                </a:lnTo>
                <a:lnTo>
                  <a:pt x="2532845" y="2532844"/>
                </a:lnTo>
                <a:lnTo>
                  <a:pt x="0" y="253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39071" y="2980272"/>
            <a:ext cx="2636343" cy="2636343"/>
          </a:xfrm>
          <a:custGeom>
            <a:avLst/>
            <a:gdLst/>
            <a:ahLst/>
            <a:cxnLst/>
            <a:rect r="r" b="b" t="t" l="l"/>
            <a:pathLst>
              <a:path h="2636343" w="2636343">
                <a:moveTo>
                  <a:pt x="0" y="0"/>
                </a:moveTo>
                <a:lnTo>
                  <a:pt x="2636344" y="0"/>
                </a:lnTo>
                <a:lnTo>
                  <a:pt x="2636344" y="2636344"/>
                </a:lnTo>
                <a:lnTo>
                  <a:pt x="0" y="26363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BENEFITS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9210" y="6161347"/>
            <a:ext cx="35411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Increase survivors’    motivation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4522" y="6161347"/>
            <a:ext cx="353414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Improves surviors’ progress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6883" y="5951797"/>
            <a:ext cx="3174108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Contribute to VR Rehabilitation Research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9384" y="2546869"/>
            <a:ext cx="16709232" cy="5305181"/>
          </a:xfrm>
          <a:custGeom>
            <a:avLst/>
            <a:gdLst/>
            <a:ahLst/>
            <a:cxnLst/>
            <a:rect r="r" b="b" t="t" l="l"/>
            <a:pathLst>
              <a:path h="5305181" w="16709232">
                <a:moveTo>
                  <a:pt x="0" y="0"/>
                </a:moveTo>
                <a:lnTo>
                  <a:pt x="16709232" y="0"/>
                </a:lnTo>
                <a:lnTo>
                  <a:pt x="16709232" y="5305181"/>
                </a:lnTo>
                <a:lnTo>
                  <a:pt x="0" y="5305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CONCEPTUAL FRAMEWORK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32414" y="3027329"/>
            <a:ext cx="10709413" cy="5931927"/>
            <a:chOff x="0" y="0"/>
            <a:chExt cx="14279217" cy="790923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1494419" y="-790924"/>
              <a:ext cx="9491083" cy="9491083"/>
            </a:xfrm>
            <a:prstGeom prst="rect">
              <a:avLst/>
            </a:prstGeom>
          </p:spPr>
        </p:pic>
        <p:sp>
          <p:nvSpPr>
            <p:cNvPr name="Freeform 7" id="7"/>
            <p:cNvSpPr/>
            <p:nvPr/>
          </p:nvSpPr>
          <p:spPr>
            <a:xfrm flipH="false" flipV="false" rot="0">
              <a:off x="5039239" y="1194880"/>
              <a:ext cx="743065" cy="743065"/>
            </a:xfrm>
            <a:custGeom>
              <a:avLst/>
              <a:gdLst/>
              <a:ahLst/>
              <a:cxnLst/>
              <a:rect r="r" b="b" t="t" l="l"/>
              <a:pathLst>
                <a:path h="743065" w="743065">
                  <a:moveTo>
                    <a:pt x="0" y="0"/>
                  </a:moveTo>
                  <a:lnTo>
                    <a:pt x="743064" y="0"/>
                  </a:lnTo>
                  <a:lnTo>
                    <a:pt x="743064" y="743064"/>
                  </a:lnTo>
                  <a:lnTo>
                    <a:pt x="0" y="74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31870" y="4397815"/>
              <a:ext cx="952173" cy="952173"/>
            </a:xfrm>
            <a:custGeom>
              <a:avLst/>
              <a:gdLst/>
              <a:ahLst/>
              <a:cxnLst/>
              <a:rect r="r" b="b" t="t" l="l"/>
              <a:pathLst>
                <a:path h="952173" w="952173">
                  <a:moveTo>
                    <a:pt x="0" y="0"/>
                  </a:moveTo>
                  <a:lnTo>
                    <a:pt x="952173" y="0"/>
                  </a:lnTo>
                  <a:lnTo>
                    <a:pt x="952173" y="952173"/>
                  </a:lnTo>
                  <a:lnTo>
                    <a:pt x="0" y="952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78372" y="1134549"/>
              <a:ext cx="863726" cy="863726"/>
            </a:xfrm>
            <a:custGeom>
              <a:avLst/>
              <a:gdLst/>
              <a:ahLst/>
              <a:cxnLst/>
              <a:rect r="r" b="b" t="t" l="l"/>
              <a:pathLst>
                <a:path h="863726" w="863726">
                  <a:moveTo>
                    <a:pt x="0" y="0"/>
                  </a:moveTo>
                  <a:lnTo>
                    <a:pt x="863726" y="0"/>
                  </a:lnTo>
                  <a:lnTo>
                    <a:pt x="863726" y="863726"/>
                  </a:lnTo>
                  <a:lnTo>
                    <a:pt x="0" y="863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35549" y="4281329"/>
              <a:ext cx="910135" cy="910135"/>
            </a:xfrm>
            <a:custGeom>
              <a:avLst/>
              <a:gdLst/>
              <a:ahLst/>
              <a:cxnLst/>
              <a:rect r="r" b="b" t="t" l="l"/>
              <a:pathLst>
                <a:path h="910135" w="910135">
                  <a:moveTo>
                    <a:pt x="0" y="0"/>
                  </a:moveTo>
                  <a:lnTo>
                    <a:pt x="910135" y="0"/>
                  </a:lnTo>
                  <a:lnTo>
                    <a:pt x="910135" y="910135"/>
                  </a:lnTo>
                  <a:lnTo>
                    <a:pt x="0" y="910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878372" y="5742272"/>
              <a:ext cx="893842" cy="893842"/>
            </a:xfrm>
            <a:custGeom>
              <a:avLst/>
              <a:gdLst/>
              <a:ahLst/>
              <a:cxnLst/>
              <a:rect r="r" b="b" t="t" l="l"/>
              <a:pathLst>
                <a:path h="893842" w="893842">
                  <a:moveTo>
                    <a:pt x="0" y="0"/>
                  </a:moveTo>
                  <a:lnTo>
                    <a:pt x="893842" y="0"/>
                  </a:lnTo>
                  <a:lnTo>
                    <a:pt x="893842" y="893841"/>
                  </a:lnTo>
                  <a:lnTo>
                    <a:pt x="0" y="89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198423" y="2493067"/>
              <a:ext cx="984387" cy="984387"/>
            </a:xfrm>
            <a:custGeom>
              <a:avLst/>
              <a:gdLst/>
              <a:ahLst/>
              <a:cxnLst/>
              <a:rect r="r" b="b" t="t" l="l"/>
              <a:pathLst>
                <a:path h="984387" w="984387">
                  <a:moveTo>
                    <a:pt x="0" y="0"/>
                  </a:moveTo>
                  <a:lnTo>
                    <a:pt x="984387" y="0"/>
                  </a:lnTo>
                  <a:lnTo>
                    <a:pt x="984387" y="984388"/>
                  </a:lnTo>
                  <a:lnTo>
                    <a:pt x="0" y="984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31870" y="2342376"/>
              <a:ext cx="1019061" cy="1019061"/>
            </a:xfrm>
            <a:custGeom>
              <a:avLst/>
              <a:gdLst/>
              <a:ahLst/>
              <a:cxnLst/>
              <a:rect r="r" b="b" t="t" l="l"/>
              <a:pathLst>
                <a:path h="1019061" w="1019061">
                  <a:moveTo>
                    <a:pt x="0" y="0"/>
                  </a:moveTo>
                  <a:lnTo>
                    <a:pt x="1019061" y="0"/>
                  </a:lnTo>
                  <a:lnTo>
                    <a:pt x="1019061" y="1019061"/>
                  </a:lnTo>
                  <a:lnTo>
                    <a:pt x="0" y="1019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918577" y="5806748"/>
              <a:ext cx="1122664" cy="1122664"/>
            </a:xfrm>
            <a:custGeom>
              <a:avLst/>
              <a:gdLst/>
              <a:ahLst/>
              <a:cxnLst/>
              <a:rect r="r" b="b" t="t" l="l"/>
              <a:pathLst>
                <a:path h="1122664" w="1122664">
                  <a:moveTo>
                    <a:pt x="0" y="0"/>
                  </a:moveTo>
                  <a:lnTo>
                    <a:pt x="1122664" y="0"/>
                  </a:lnTo>
                  <a:lnTo>
                    <a:pt x="1122664" y="1122664"/>
                  </a:lnTo>
                  <a:lnTo>
                    <a:pt x="0" y="112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4575844" y="4788177"/>
              <a:ext cx="342734" cy="954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4"/>
                </a:lnSpc>
                <a:spcBef>
                  <a:spcPct val="0"/>
                </a:spcBef>
              </a:pPr>
              <a:r>
                <a:rPr lang="en-US" b="true" sz="428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*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575844" y="2407342"/>
              <a:ext cx="342734" cy="954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4"/>
                </a:lnSpc>
                <a:spcBef>
                  <a:spcPct val="0"/>
                </a:spcBef>
              </a:pPr>
              <a:r>
                <a:rPr lang="en-US" b="true" sz="428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*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908071" y="5413985"/>
              <a:ext cx="342734" cy="954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4"/>
                </a:lnSpc>
                <a:spcBef>
                  <a:spcPct val="0"/>
                </a:spcBef>
              </a:pPr>
              <a:r>
                <a:rPr lang="en-US" b="true" sz="428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*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331870" y="64107"/>
              <a:ext cx="2744173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321854" indent="-160927" lvl="1">
                <a:lnSpc>
                  <a:spcPts val="2087"/>
                </a:lnSpc>
                <a:spcBef>
                  <a:spcPct val="0"/>
                </a:spcBef>
                <a:buAutoNum type="arabicPeriod" startAt="1"/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State Of Art Review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812969" y="2602067"/>
              <a:ext cx="2001858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3. Game Concept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878372" y="64107"/>
              <a:ext cx="5869194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2. Analysis of Previous Studies/Questionnaire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812969" y="4707821"/>
              <a:ext cx="4466248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4. Define the Personalized Parameters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581277" y="7584051"/>
              <a:ext cx="2232204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5.  Game Prototype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34110" y="7584051"/>
              <a:ext cx="2245328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6. User Evaluation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866278"/>
              <a:ext cx="2486742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7. Data Analysis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21248" y="2526721"/>
              <a:ext cx="1782292" cy="32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7"/>
                </a:lnSpc>
                <a:spcBef>
                  <a:spcPct val="0"/>
                </a:spcBef>
              </a:pPr>
              <a:r>
                <a:rPr lang="en-US" sz="149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8. Fine Tunning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12048" y="1822522"/>
            <a:ext cx="1029001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This</a:t>
            </a: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project will adopt the Human-Centered Design (HCD)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53974" y="2093428"/>
            <a:ext cx="15905326" cy="6541065"/>
          </a:xfrm>
          <a:custGeom>
            <a:avLst/>
            <a:gdLst/>
            <a:ahLst/>
            <a:cxnLst/>
            <a:rect r="r" b="b" t="t" l="l"/>
            <a:pathLst>
              <a:path h="6541065" w="15905326">
                <a:moveTo>
                  <a:pt x="0" y="0"/>
                </a:moveTo>
                <a:lnTo>
                  <a:pt x="15905326" y="0"/>
                </a:lnTo>
                <a:lnTo>
                  <a:pt x="15905326" y="6541065"/>
                </a:lnTo>
                <a:lnTo>
                  <a:pt x="0" y="6541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593922"/>
            <a:ext cx="1777359" cy="0"/>
          </a:xfrm>
          <a:prstGeom prst="line">
            <a:avLst/>
          </a:prstGeom>
          <a:ln cap="flat" w="76200">
            <a:solidFill>
              <a:srgbClr val="F4B5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21055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600" spc="2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885441" y="6762472"/>
            <a:ext cx="1102944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 a therapeutically level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224" y="7697008"/>
            <a:ext cx="14674424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Reinforce the use of serious games with virtual reality environments as as complementary methods to the traditional ones to boost survivors motivation and engagement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1877829" y="2038609"/>
            <a:ext cx="1246159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Answer the Research Question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224" y="2920979"/>
            <a:ext cx="12984826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 Can VR based environments be personalized to adjust to individual need and help boost motivation?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2299458" y="4179022"/>
            <a:ext cx="11568358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 a development level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224" y="5065404"/>
            <a:ext cx="13485615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 Have different variations of the functional prototype to test different approachs of dynamic difficulty adjustment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6547" y="5564168"/>
            <a:ext cx="7914907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 For Listening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6889" y="4465617"/>
            <a:ext cx="11614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DAG7JzdskNg</dc:identifier>
  <dcterms:modified xsi:type="dcterms:W3CDTF">2011-08-01T06:04:30Z</dcterms:modified>
  <cp:revision>1</cp:revision>
  <dc:title>MAPDE 2025/2026 - Investigation Plan</dc:title>
</cp:coreProperties>
</file>